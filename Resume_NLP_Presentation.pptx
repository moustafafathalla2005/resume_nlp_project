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Resumes</c:v>
                </c:pt>
              </c:strCache>
            </c:strRef>
          </c:tx>
          <c:spPr>
            <a:solidFill>
              <a:srgbClr val="00BC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CD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E67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84CC16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90A4C8"/>
              </a:solidFill>
              <a:effectLst/>
            </c:spPr>
          </c:dPt>
          <c:cat>
            <c:multiLvlStrRef>
              <c:f>Sheet1!$A$2:$A$12</c:f>
              <c:multiLvlStrCache>
                <c:ptCount val="11"/>
                <c:lvl>
                  <c:pt idx="0">
                    <c:v>Data Science</c:v>
                  </c:pt>
                  <c:pt idx="1">
                    <c:v>Java Dev</c:v>
                  </c:pt>
                  <c:pt idx="2">
                    <c:v>Python Dev</c:v>
                  </c:pt>
                  <c:pt idx="3">
                    <c:v>Web Design</c:v>
                  </c:pt>
                  <c:pt idx="4">
                    <c:v>HR</c:v>
                  </c:pt>
                  <c:pt idx="5">
                    <c:v>Sales</c:v>
                  </c:pt>
                  <c:pt idx="6">
                    <c:v>Testing</c:v>
                  </c:pt>
                  <c:pt idx="7">
                    <c:v>DevOps</c:v>
                  </c:pt>
                  <c:pt idx="8">
                    <c:v>Database</c:v>
                  </c:pt>
                  <c:pt idx="9">
                    <c:v>DotNet</c:v>
                  </c:pt>
                  <c:pt idx="10">
                    <c:v>Others×15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49</c:v>
                </c:pt>
                <c:pt idx="1">
                  <c:v>46</c:v>
                </c:pt>
                <c:pt idx="2">
                  <c:v>45</c:v>
                </c:pt>
                <c:pt idx="3">
                  <c:v>45</c:v>
                </c:pt>
                <c:pt idx="4">
                  <c:v>44</c:v>
                </c:pt>
                <c:pt idx="5">
                  <c:v>44</c:v>
                </c:pt>
                <c:pt idx="6">
                  <c:v>43</c:v>
                </c:pt>
                <c:pt idx="7">
                  <c:v>40</c:v>
                </c:pt>
                <c:pt idx="8">
                  <c:v>39</c:v>
                </c:pt>
                <c:pt idx="9">
                  <c:v>38</c:v>
                </c:pt>
                <c:pt idx="10">
                  <c:v>539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0A4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0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4FFDA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-1097280"/>
            <a:ext cx="5029200" cy="5029200"/>
          </a:xfrm>
          <a:prstGeom prst="ellipse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548640"/>
            <a:ext cx="3657600" cy="36576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411480"/>
            <a:ext cx="2103120" cy="2103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54864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5486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NLP COURSE PROJECT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1051560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6200" dirty="0"/>
          </a:p>
        </p:txBody>
      </p:sp>
      <p:sp>
        <p:nvSpPr>
          <p:cNvPr id="9" name="Text 6"/>
          <p:cNvSpPr/>
          <p:nvPr/>
        </p:nvSpPr>
        <p:spPr>
          <a:xfrm>
            <a:off x="411480" y="178308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spc="100" kern="0" dirty="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System</a:t>
            </a:r>
            <a:endParaRPr lang="en-US" sz="6200" dirty="0"/>
          </a:p>
        </p:txBody>
      </p:sp>
      <p:sp>
        <p:nvSpPr>
          <p:cNvPr id="10" name="Text 7"/>
          <p:cNvSpPr/>
          <p:nvPr/>
        </p:nvSpPr>
        <p:spPr>
          <a:xfrm>
            <a:off x="411480" y="2761488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AI for Resume Classification,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&amp; Job Description Generation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11480" y="4160520"/>
            <a:ext cx="1920240" cy="749808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41879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4FFDA"/>
                </a:solidFill>
              </a:rPr>
              <a:t>962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11480" y="44805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C8"/>
                </a:solidFill>
              </a:rPr>
              <a:t>Resumes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560320" y="4160520"/>
            <a:ext cx="1920240" cy="749808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60320" y="41879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4FFDA"/>
                </a:solidFill>
              </a:rPr>
              <a:t>25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2560320" y="44805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C8"/>
                </a:solidFill>
              </a:rPr>
              <a:t>Job Categories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709160" y="4160520"/>
            <a:ext cx="1920240" cy="749808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09160" y="41879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4FFDA"/>
                </a:solidFill>
              </a:rPr>
              <a:t>5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4709160" y="44805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C8"/>
                </a:solidFill>
              </a:rPr>
              <a:t>Pipeline Stages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58000" y="4160520"/>
            <a:ext cx="1920240" cy="749808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58000" y="41879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4FFDA"/>
                </a:solidFill>
              </a:rPr>
              <a:t>2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6858000" y="44805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C8"/>
                </a:solidFill>
              </a:rPr>
              <a:t>Bug Fixes Applied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A4C8"/>
                </a:solidFill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" y="685800"/>
            <a:ext cx="137160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685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" y="10972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automate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screening?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28600" y="2532888"/>
            <a:ext cx="237744" cy="237744"/>
          </a:xfrm>
          <a:prstGeom prst="ellipse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2532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51460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Millions of resumes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2734056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0A4C8"/>
                </a:solidFill>
              </a:rPr>
              <a:t>processed annually — human screening is slow and inconsistent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3264408"/>
            <a:ext cx="237744" cy="237744"/>
          </a:xfrm>
          <a:prstGeom prst="ellipse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32644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324612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Cognitive bias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3465576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0A4C8"/>
                </a:solidFill>
              </a:rPr>
              <a:t>affects ~90% of manual screening decisions (McKinsey, 2022)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3995928"/>
            <a:ext cx="237744" cy="237744"/>
          </a:xfrm>
          <a:prstGeom prst="ellipse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39959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397764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Black-box ATS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4197096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0A4C8"/>
                </a:solidFill>
              </a:rPr>
              <a:t>commercial systems hide scoring logic from both recruiters &amp; candidates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931920" y="320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931920" y="960120"/>
            <a:ext cx="48463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931920" y="960120"/>
            <a:ext cx="64008" cy="11155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6512" y="1252728"/>
            <a:ext cx="475488" cy="47548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681728" y="109728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8"/>
                </a:solidFill>
              </a:rPr>
              <a:t>Classification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681728" y="141732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4466"/>
                </a:solidFill>
              </a:rPr>
              <a:t>Predict job category from resume text using a TF-IDF centroid classifier — no black box.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931920" y="2258568"/>
            <a:ext cx="48463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931920" y="2258568"/>
            <a:ext cx="64008" cy="11155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512" y="2551176"/>
            <a:ext cx="475488" cy="47548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681728" y="239572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8"/>
                </a:solidFill>
              </a:rPr>
              <a:t>Matching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4681728" y="271576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4466"/>
                </a:solidFill>
              </a:rPr>
              <a:t>Rank resumes against a job description by cosine similarity.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3931920" y="3557016"/>
            <a:ext cx="48463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3931920" y="3557016"/>
            <a:ext cx="64008" cy="111556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3849624"/>
            <a:ext cx="475488" cy="47548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4681728" y="369417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8"/>
                </a:solidFill>
              </a:rPr>
              <a:t>JD Generation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4681728" y="401421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4466"/>
                </a:solidFill>
              </a:rPr>
              <a:t>Auto-generate a structured job description from any resume, rule-based or AI-powered.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3931920" y="4800600"/>
            <a:ext cx="4846320" cy="54864"/>
          </a:xfrm>
          <a:prstGeom prst="rect">
            <a:avLst/>
          </a:prstGeom>
          <a:solidFill>
            <a:srgbClr val="64FFDA"/>
          </a:solidFill>
          <a:ln w="12700">
            <a:solidFill>
              <a:srgbClr val="64FFD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A4C8"/>
                </a:solidFill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C8"/>
                </a:solidFill>
              </a:rPr>
              <a:t>5 transparent stages — no black boxes, every step inspectable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554480"/>
            <a:ext cx="1508760" cy="3246120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554480"/>
            <a:ext cx="150876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91640"/>
            <a:ext cx="438912" cy="43891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628"/>
                </a:solidFill>
              </a:rPr>
              <a:t>1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2249424"/>
            <a:ext cx="512064" cy="5120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4048" y="2880360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ResumeCleaner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84048" y="333756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0A4C8"/>
                </a:solidFill>
              </a:rPr>
              <a:t>Remove emails, phones,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0A4C8"/>
                </a:solidFill>
              </a:rPr>
              <a:t>URLs, special chars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57200" y="4297680"/>
            <a:ext cx="1170432" cy="310896"/>
          </a:xfrm>
          <a:prstGeom prst="rect">
            <a:avLst/>
          </a:prstGeom>
          <a:solidFill>
            <a:srgbClr val="0D1E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29768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FFDA"/>
                </a:solidFill>
              </a:rPr>
              <a:t>→ Raw Text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773936" y="2176272"/>
            <a:ext cx="201168" cy="54864"/>
          </a:xfrm>
          <a:prstGeom prst="rect">
            <a:avLst/>
          </a:prstGeom>
          <a:solidFill>
            <a:srgbClr val="90A4C8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56232" y="210312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C8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029968" y="1554480"/>
            <a:ext cx="1508760" cy="3246120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029968" y="1554480"/>
            <a:ext cx="150876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560320" y="1691640"/>
            <a:ext cx="438912" cy="43891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60320" y="1691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628"/>
                </a:solidFill>
              </a:rPr>
              <a:t>2</a:t>
            </a:r>
            <a:endParaRPr lang="en-US" sz="16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888" y="2249424"/>
            <a:ext cx="512064" cy="51206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121408" y="2880360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ResumePreprocessor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2121408" y="333756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0A4C8"/>
                </a:solidFill>
              </a:rPr>
              <a:t>Tokenise → Stop words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0A4C8"/>
                </a:solidFill>
              </a:rPr>
              <a:t>→ Lemmatise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2194560" y="4297680"/>
            <a:ext cx="1170432" cy="310896"/>
          </a:xfrm>
          <a:prstGeom prst="rect">
            <a:avLst/>
          </a:prstGeom>
          <a:solidFill>
            <a:srgbClr val="0D1E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194560" y="429768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FFDA"/>
                </a:solidFill>
              </a:rPr>
              <a:t>→ Cleaned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3511296" y="2176272"/>
            <a:ext cx="201168" cy="54864"/>
          </a:xfrm>
          <a:prstGeom prst="rect">
            <a:avLst/>
          </a:prstGeom>
          <a:solidFill>
            <a:srgbClr val="90A4C8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593592" y="210312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C8"/>
                </a:solidFill>
              </a:rPr>
              <a:t>▶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767328" y="1554480"/>
            <a:ext cx="1508760" cy="3246120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3767328" y="1554480"/>
            <a:ext cx="150876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297680" y="1691640"/>
            <a:ext cx="438912" cy="43891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297680" y="1691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628"/>
                </a:solidFill>
              </a:rPr>
              <a:t>3</a:t>
            </a:r>
            <a:endParaRPr lang="en-US" sz="160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2249424"/>
            <a:ext cx="512064" cy="51206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3858768" y="2880360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BagOfNGrams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3858768" y="333756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0A4C8"/>
                </a:solidFill>
              </a:rPr>
              <a:t>CountVectorizer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0A4C8"/>
                </a:solidFill>
              </a:rPr>
              <a:t>(EDA &amp; exploration)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3931920" y="4297680"/>
            <a:ext cx="1170432" cy="310896"/>
          </a:xfrm>
          <a:prstGeom prst="rect">
            <a:avLst/>
          </a:prstGeom>
          <a:solidFill>
            <a:srgbClr val="0D1E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3931920" y="429768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FFDA"/>
                </a:solidFill>
              </a:rPr>
              <a:t>→ Tokens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5248656" y="2176272"/>
            <a:ext cx="201168" cy="54864"/>
          </a:xfrm>
          <a:prstGeom prst="rect">
            <a:avLst/>
          </a:prstGeom>
          <a:solidFill>
            <a:srgbClr val="90A4C8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5330952" y="210312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C8"/>
                </a:solidFill>
              </a:rPr>
              <a:t>▶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5504688" y="1554480"/>
            <a:ext cx="1508760" cy="3246120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5504688" y="1554480"/>
            <a:ext cx="15087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6035040" y="1691640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035040" y="1691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628"/>
                </a:solidFill>
              </a:rPr>
              <a:t>4</a:t>
            </a:r>
            <a:endParaRPr lang="en-US" sz="1600" dirty="0"/>
          </a:p>
        </p:txBody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608" y="2249424"/>
            <a:ext cx="512064" cy="512064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596128" y="2880360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ResumeClassifier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5596128" y="333756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0A4C8"/>
                </a:solidFill>
              </a:rPr>
              <a:t>TF-IDF centroids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0A4C8"/>
                </a:solidFill>
              </a:rPr>
              <a:t>+ cosine similarity</a:t>
            </a:r>
            <a:endParaRPr lang="en-US" sz="950" dirty="0"/>
          </a:p>
        </p:txBody>
      </p:sp>
      <p:sp>
        <p:nvSpPr>
          <p:cNvPr id="45" name="Shape 39"/>
          <p:cNvSpPr/>
          <p:nvPr/>
        </p:nvSpPr>
        <p:spPr>
          <a:xfrm>
            <a:off x="5669280" y="4297680"/>
            <a:ext cx="1170432" cy="310896"/>
          </a:xfrm>
          <a:prstGeom prst="rect">
            <a:avLst/>
          </a:prstGeom>
          <a:solidFill>
            <a:srgbClr val="0D1E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5669280" y="429768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FFDA"/>
                </a:solidFill>
              </a:rPr>
              <a:t>→ Vectors</a:t>
            </a:r>
            <a:endParaRPr lang="en-US" sz="900" dirty="0"/>
          </a:p>
        </p:txBody>
      </p:sp>
      <p:sp>
        <p:nvSpPr>
          <p:cNvPr id="47" name="Shape 41"/>
          <p:cNvSpPr/>
          <p:nvPr/>
        </p:nvSpPr>
        <p:spPr>
          <a:xfrm>
            <a:off x="6986016" y="2176272"/>
            <a:ext cx="201168" cy="54864"/>
          </a:xfrm>
          <a:prstGeom prst="rect">
            <a:avLst/>
          </a:prstGeom>
          <a:solidFill>
            <a:srgbClr val="90A4C8"/>
          </a:solidFill>
          <a:ln w="12700">
            <a:solidFill>
              <a:srgbClr val="90A4C8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7068312" y="210312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C8"/>
                </a:solidFill>
              </a:rPr>
              <a:t>▶</a:t>
            </a:r>
            <a:endParaRPr lang="en-US" sz="1000" dirty="0"/>
          </a:p>
        </p:txBody>
      </p:sp>
      <p:sp>
        <p:nvSpPr>
          <p:cNvPr id="49" name="Shape 43"/>
          <p:cNvSpPr/>
          <p:nvPr/>
        </p:nvSpPr>
        <p:spPr>
          <a:xfrm>
            <a:off x="7242048" y="1554480"/>
            <a:ext cx="1508760" cy="3246120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0" name="Shape 44"/>
          <p:cNvSpPr/>
          <p:nvPr/>
        </p:nvSpPr>
        <p:spPr>
          <a:xfrm>
            <a:off x="7242048" y="1554480"/>
            <a:ext cx="1508760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7772400" y="1691640"/>
            <a:ext cx="438912" cy="43891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7772400" y="1691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628"/>
                </a:solidFill>
              </a:rPr>
              <a:t>5</a:t>
            </a:r>
            <a:endParaRPr lang="en-US" sz="1600" dirty="0"/>
          </a:p>
        </p:txBody>
      </p:sp>
      <p:pic>
        <p:nvPicPr>
          <p:cNvPr id="5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4968" y="2249424"/>
            <a:ext cx="512064" cy="512064"/>
          </a:xfrm>
          <a:prstGeom prst="rect">
            <a:avLst/>
          </a:prstGeom>
        </p:spPr>
      </p:pic>
      <p:sp>
        <p:nvSpPr>
          <p:cNvPr id="54" name="Text 47"/>
          <p:cNvSpPr/>
          <p:nvPr/>
        </p:nvSpPr>
        <p:spPr>
          <a:xfrm>
            <a:off x="7333488" y="2880360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ResumeMatcher</a:t>
            </a:r>
            <a:endParaRPr lang="en-US" sz="1100" dirty="0"/>
          </a:p>
        </p:txBody>
      </p:sp>
      <p:sp>
        <p:nvSpPr>
          <p:cNvPr id="55" name="Text 48"/>
          <p:cNvSpPr/>
          <p:nvPr/>
        </p:nvSpPr>
        <p:spPr>
          <a:xfrm>
            <a:off x="7333488" y="333756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0A4C8"/>
                </a:solidFill>
              </a:rPr>
              <a:t>JD vs corpus ranking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0A4C8"/>
                </a:solidFill>
              </a:rPr>
              <a:t>(bug fixed ✓)</a:t>
            </a:r>
            <a:endParaRPr lang="en-US" sz="950" dirty="0"/>
          </a:p>
        </p:txBody>
      </p:sp>
      <p:sp>
        <p:nvSpPr>
          <p:cNvPr id="56" name="Shape 49"/>
          <p:cNvSpPr/>
          <p:nvPr/>
        </p:nvSpPr>
        <p:spPr>
          <a:xfrm>
            <a:off x="7406640" y="4297680"/>
            <a:ext cx="1170432" cy="310896"/>
          </a:xfrm>
          <a:prstGeom prst="rect">
            <a:avLst/>
          </a:prstGeom>
          <a:solidFill>
            <a:srgbClr val="0D1E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Text 50"/>
          <p:cNvSpPr/>
          <p:nvPr/>
        </p:nvSpPr>
        <p:spPr>
          <a:xfrm>
            <a:off x="7406640" y="429768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FFDA"/>
                </a:solidFill>
              </a:rPr>
              <a:t>→ Results</a:t>
            </a:r>
            <a:endParaRPr lang="en-US" sz="900" dirty="0"/>
          </a:p>
        </p:txBody>
      </p:sp>
      <p:sp>
        <p:nvSpPr>
          <p:cNvPr id="58" name="Shape 51"/>
          <p:cNvSpPr/>
          <p:nvPr/>
        </p:nvSpPr>
        <p:spPr>
          <a:xfrm>
            <a:off x="292608" y="4800600"/>
            <a:ext cx="8558784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9" name="Text 52"/>
          <p:cNvSpPr/>
          <p:nvPr/>
        </p:nvSpPr>
        <p:spPr>
          <a:xfrm>
            <a:off x="292608" y="4800600"/>
            <a:ext cx="8558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C8"/>
                </a:solidFill>
              </a:rPr>
              <a:t>+ JobDescriptionGenerator (Stage 6): Rule-based templates  OR  Claude AI API — generates unique, non-repetitive JDs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A4C8"/>
                </a:solidFill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 Classifier  — How It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0116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201168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80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4048" y="18745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</a:rPr>
              <a:t>Fit TF-IDF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237744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55"/>
                </a:solidFill>
              </a:rPr>
              <a:t>Build a (n_docs × n_features) sparse matrix using sublinear TF weighting. Vocabulary capped at 10,000 unigrams + bigrams.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68880" y="1280160"/>
            <a:ext cx="20116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280160"/>
            <a:ext cx="2011680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280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78608" y="18745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</a:rPr>
              <a:t>Compute Centroids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78608" y="237744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55"/>
                </a:solidFill>
              </a:rPr>
              <a:t>For each of the 25 categories, average all TF-IDF row vectors → one centroid μ_c per category.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1280160"/>
            <a:ext cx="20116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280160"/>
            <a:ext cx="201168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280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73168" y="18745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</a:rPr>
              <a:t>Cosine Similarity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73168" y="237744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55"/>
                </a:solidFill>
              </a:rPr>
              <a:t>New resume vector vs every centroid: sim = (v·μ) / (‖v‖‖μ‖). No model training needed.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0" y="1280160"/>
            <a:ext cx="20116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1280160"/>
            <a:ext cx="2011680" cy="5029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1280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67728" y="18745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</a:rPr>
              <a:t>Predict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67728" y="237744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55"/>
                </a:solidFill>
              </a:rPr>
              <a:t>Return category c* with highest similarity. Also expose top-k ranking with scores for transparency.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Formula:  sim(v_q , μ_c)  =  ( v_q · μ_c )  /  ( ‖v_q‖ × ‖μ_c‖ )    →    c* = argmax_c  sim(v_q , μ_c)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A4C8"/>
                </a:solidFill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ResumeMatcher — Bug Found &amp; Fixed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69080" cy="384048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  THE BUG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35608"/>
            <a:ext cx="4069080" cy="2331720"/>
          </a:xfrm>
          <a:prstGeom prst="rect">
            <a:avLst/>
          </a:prstGeom>
          <a:solidFill>
            <a:srgbClr val="162040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3703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90A4C8"/>
                </a:solidFill>
              </a:rPr>
              <a:t>Every time fit() was called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0A4C8"/>
                </a:solidFill>
              </a:rPr>
              <a:t>(e.g. on each Streamlit page reload), the TF-IDF vocabulary was silently rebuilt from scratch — even with the same corpus.
</a:t>
            </a:r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90A4C8"/>
                </a:solidFill>
              </a:rPr>
              <a:t>Root cause: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0A4C8"/>
                </a:solidFill>
              </a:rPr>
              <a:t>fit_transform() was called unconditionally, with no check whether the corpus had already been indexed.
</a:t>
            </a:r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90A4C8"/>
                </a:solidFill>
              </a:rPr>
              <a:t>Impact: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0A4C8"/>
                </a:solidFill>
              </a:rPr>
              <a:t>Repeated or misleading results; unnecessary compute on every interaction.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1051560"/>
            <a:ext cx="4069080" cy="38404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05156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628"/>
                </a:solidFill>
              </a:rPr>
              <a:t>✓  THE FIX  (applied in matcher.py)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1435608"/>
            <a:ext cx="4069080" cy="2331720"/>
          </a:xfrm>
          <a:prstGeom prst="rect">
            <a:avLst/>
          </a:prstGeom>
          <a:solidFill>
            <a:srgbClr val="0D1E0D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508760"/>
            <a:ext cx="38862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fit(self, df, text_col=...):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texts = df[text_col].fillna('').tolist()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fingerprint = hash(tuple(texts))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self._fitted and \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fingerprint == self._corpus_fingerprint: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self  # ← no-op: same corpus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self._X = self._tfidf.fit_transform(texts)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self._corpus_fingerprint = fingerprint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3931920"/>
            <a:ext cx="859536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078224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51560" y="397764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Result: fit() is now idempotent — calling it multiple times with the same corpus is a safe no-op.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51560" y="431596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C8"/>
                </a:solidFill>
              </a:rPr>
              <a:t>The fingerprint check costs O(n) — negligible. The corpus repetition defect is eliminated in all Streamlit reload scenarios.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A4C8"/>
                </a:solidFill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29260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 Generator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402336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MODE A — Rule-Based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66"/>
                </a:solidFill>
              </a:rPr>
              <a:t>Extracts skills from SKILLS_DB (6 domains, ~50 skills)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66"/>
                </a:solidFill>
              </a:rPr>
              <a:t>Parses years of experience via regex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66"/>
                </a:solidFill>
              </a:rPr>
              <a:t>Fills structured templates: Summary → Responsibilities → Requirements → Tech Stack → Benefits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66"/>
                </a:solidFill>
              </a:rPr>
              <a:t>100% offline — no API key needed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66"/>
                </a:solidFill>
              </a:rPr>
              <a:t>Fast and deterministic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88720"/>
            <a:ext cx="402336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887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MODE B — Claude AI 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82880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66"/>
                </a:solidFill>
              </a:rPr>
              <a:t>Calls Claude Sonnet API with targeted prompt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66"/>
                </a:solidFill>
              </a:rPr>
              <a:t>Instructs model: "do not repeat any phrase twice"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66"/>
                </a:solidFill>
              </a:rPr>
              <a:t>max_tokens raised 1000 → 1500 (fix applied ✓)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66"/>
                </a:solidFill>
              </a:rPr>
              <a:t>Generates unique, contextual, role-specific JDs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66"/>
                </a:solidFill>
              </a:rPr>
              <a:t>Graceful fallback to rule-based on API failure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33672" y="2286000"/>
            <a:ext cx="676656" cy="676656"/>
          </a:xfrm>
          <a:prstGeom prst="ellipse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33672" y="228600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4C8"/>
                </a:solidFill>
              </a:rPr>
              <a:t>Both modes output: Job Title  ·  Summary  ·  Responsibilities  ·  Requirements  ·  Tech Stack  ·  Benefits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A4C8"/>
                </a:solidFill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Distribution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869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C8"/>
                </a:solidFill>
              </a:rPr>
              <a:t>ResumeDataSet.csv — 962 resumes across 25 professional categories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280160"/>
          <a:ext cx="56692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17920" y="1371600"/>
            <a:ext cx="2651760" cy="749808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17920" y="1371600"/>
            <a:ext cx="54864" cy="749808"/>
          </a:xfrm>
          <a:prstGeom prst="rect">
            <a:avLst/>
          </a:prstGeom>
          <a:solidFill>
            <a:srgbClr val="64FFDA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0" y="140817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4FFDA"/>
                </a:solidFill>
              </a:rPr>
              <a:t>962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400800" y="177393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C8"/>
                </a:solidFill>
              </a:rPr>
              <a:t>Total Resumes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17920" y="2286000"/>
            <a:ext cx="2651760" cy="749808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17920" y="2286000"/>
            <a:ext cx="54864" cy="7498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232257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CD4"/>
                </a:solidFill>
              </a:rPr>
              <a:t>25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400800" y="268833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C8"/>
                </a:solidFill>
              </a:rPr>
              <a:t>Job Categories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17920" y="3200400"/>
            <a:ext cx="2651760" cy="749808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17920" y="3200400"/>
            <a:ext cx="54864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0" y="323697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~38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400800" y="360273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C8"/>
                </a:solidFill>
              </a:rPr>
              <a:t>Avg per Category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217920" y="4114800"/>
            <a:ext cx="2651760" cy="749808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17920" y="4114800"/>
            <a:ext cx="54864" cy="7498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0" y="415137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676"/>
                </a:solidFill>
              </a:rPr>
              <a:t>100%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6400800" y="451713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C8"/>
                </a:solidFill>
              </a:rPr>
              <a:t>Labelled Data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217920" y="4709160"/>
            <a:ext cx="265176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17920" y="4709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D740"/>
                </a:solidFill>
              </a:rPr>
              <a:t>⚠ Class imbalance: smallest categories have ~35 resumes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A4C8"/>
                </a:solidFill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Assessment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4160520" cy="41148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972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628"/>
                </a:solidFill>
              </a:rPr>
              <a:t>✓  STRENGTHS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1508760"/>
            <a:ext cx="4160520" cy="3383280"/>
          </a:xfrm>
          <a:prstGeom prst="rect">
            <a:avLst/>
          </a:prstGeom>
          <a:solidFill>
            <a:srgbClr val="F0FFF4"/>
          </a:solidFill>
          <a:ln w="12700">
            <a:solidFill>
              <a:srgbClr val="C6F6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00200"/>
            <a:ext cx="379476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1A3D2B"/>
                </a:solidFill>
              </a:rPr>
              <a:t>Fully interpretable — every weight inspectable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1A3D2B"/>
                </a:solidFill>
              </a:rPr>
              <a:t>Robust fallbacks: NLTK→regex, AI→rule-based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1A3D2B"/>
                </a:solidFill>
              </a:rPr>
              <a:t>Clean modular design (6 files, 1 stage each)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1A3D2B"/>
                </a:solidFill>
              </a:rPr>
              <a:t>Corpus repetition bug fixed ✓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1A3D2B"/>
                </a:solidFill>
              </a:rPr>
              <a:t>max_tokens raised 1000→1500 for complete JDs ✓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1A3D2B"/>
                </a:solidFill>
              </a:rPr>
              <a:t>Interactive 5-page Streamlit UI with EDA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60520" cy="411480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972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628"/>
                </a:solidFill>
              </a:rPr>
              <a:t>△  LIMITATIONS &amp; FUTURE WORK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508760"/>
            <a:ext cx="4160520" cy="338328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00200"/>
            <a:ext cx="379476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8350F"/>
                </a:solidFill>
              </a:rPr>
              <a:t>No formal accuracy eval (no confusion matrix)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8350F"/>
                </a:solidFill>
              </a:rPr>
              <a:t>Class imbalance not yet addressed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8350F"/>
                </a:solidFill>
              </a:rPr>
              <a:t>SKILLS_DB narrow: 6 domains, ~50 skills only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8350F"/>
                </a:solidFill>
              </a:rPr>
              <a:t>No multi-label classification support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8350F"/>
                </a:solidFill>
              </a:rPr>
              <a:t>Experience extraction via regex is fragile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8350F"/>
                </a:solidFill>
              </a:rPr>
              <a:t>Suggest: sentence-transformers for semantic match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28600" y="4800600"/>
            <a:ext cx="8686800" cy="256032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480060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FFDA"/>
                </a:solidFill>
              </a:rPr>
              <a:t>Verdict: Excellent pedagogical project demonstrating mastery of foundational NLP  —  solid baseline ready for research-grade extension.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A4C8"/>
                </a:solidFill>
              </a:rPr>
              <a:t>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93392" cy="3794760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993392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628"/>
                </a:solidFill>
              </a:rPr>
              <a:t>NLP 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173736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90A4C8"/>
                </a:solidFill>
              </a:rPr>
              <a:t>NLTK · Tokenisation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90A4C8"/>
                </a:solidFill>
              </a:rPr>
              <a:t>NLTK · Stop Words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90A4C8"/>
                </a:solidFill>
              </a:rPr>
              <a:t>NLTK · Lemmatiser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90A4C8"/>
                </a:solidFill>
              </a:rPr>
              <a:t>NLTK · Stemmer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097280"/>
            <a:ext cx="1993392" cy="3794760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1097280"/>
            <a:ext cx="1993392" cy="4572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0972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628"/>
                </a:solidFill>
              </a:rPr>
              <a:t>Vectorisation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06040" y="1691640"/>
            <a:ext cx="173736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90A4C8"/>
                </a:solidFill>
              </a:rPr>
              <a:t>CountVectorizer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90A4C8"/>
                </a:solidFill>
              </a:rPr>
              <a:t>TfidfVectorizer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90A4C8"/>
                </a:solidFill>
              </a:rPr>
              <a:t>Cosine Similarity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90A4C8"/>
                </a:solidFill>
              </a:rPr>
              <a:t>sublinear TF trick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1993392" cy="3794760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97280"/>
            <a:ext cx="1993392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0972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628"/>
                </a:solidFill>
              </a:rPr>
              <a:t>App &amp; UI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691640"/>
            <a:ext cx="173736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90A4C8"/>
                </a:solidFill>
              </a:rPr>
              <a:t>Streamlit (5 pages)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90A4C8"/>
                </a:solidFill>
              </a:rPr>
              <a:t>Pandas DataFrame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90A4C8"/>
                </a:solidFill>
              </a:rPr>
              <a:t>NumPy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90A4C8"/>
                </a:solidFill>
              </a:rPr>
              <a:t>Matplotlib / Seaborn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1097280"/>
            <a:ext cx="1993392" cy="3794760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0" y="1097280"/>
            <a:ext cx="199339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0972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628"/>
                </a:solidFill>
              </a:rPr>
              <a:t>AI Integration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95160" y="1691640"/>
            <a:ext cx="173736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90A4C8"/>
                </a:solidFill>
              </a:rPr>
              <a:t>Claude Sonnet API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90A4C8"/>
                </a:solidFill>
              </a:rPr>
              <a:t>Anthropic SDK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90A4C8"/>
                </a:solidFill>
              </a:rPr>
              <a:t>Prompt Engineering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90A4C8"/>
                </a:solidFill>
              </a:rPr>
              <a:t>Fallback logic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731520"/>
            <a:ext cx="5029200" cy="5029200"/>
          </a:xfrm>
          <a:prstGeom prst="ellipse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82880"/>
            <a:ext cx="3657600" cy="36576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4FFDA"/>
          </a:solidFill>
          <a:ln w="12700">
            <a:solidFill>
              <a:srgbClr val="64FFD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457200"/>
            <a:ext cx="2011680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7315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411480" y="1600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FFDA"/>
                </a:solidFill>
              </a:rPr>
              <a:t>Resume NLP System</a:t>
            </a:r>
            <a:pPr indent="0" marL="0">
              <a:buNone/>
            </a:pPr>
            <a:r>
              <a:rPr lang="en-US" sz="1400" dirty="0">
                <a:solidFill>
                  <a:srgbClr val="90A4C8"/>
                </a:solidFill>
              </a:rPr>
              <a:t> — a transparent, interpretable pipeline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1480" y="2404872"/>
            <a:ext cx="274320" cy="27432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628"/>
                </a:solidFill>
              </a:rPr>
              <a:t>✓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4672" y="2331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</a:rPr>
              <a:t>Interpretable — 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194560" y="2331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C8"/>
                </a:solidFill>
              </a:rPr>
              <a:t>Every weight is inspectable. No black boxes.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11480" y="3200400"/>
            <a:ext cx="274320" cy="27432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628"/>
                </a:solidFill>
              </a:rPr>
              <a:t>✓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04672" y="312724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</a:rPr>
              <a:t>Bug Fixed — 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194560" y="312724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C8"/>
                </a:solidFill>
              </a:rPr>
              <a:t>Matcher idempotency via corpus fingerprinting.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11480" y="3995928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3995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628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04672" y="3922776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AI-Ready — 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194560" y="392277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C8"/>
                </a:solidFill>
              </a:rPr>
              <a:t>Claude API integration with max_tokens = 1500.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11480" y="4663440"/>
            <a:ext cx="822960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C8"/>
                </a:solidFill>
              </a:rPr>
              <a:t>NLP Course Group Project  ·  2025 / 2026  ·  Dataset: ResumeDataSet.csv  ·  962 Resumes  ·  25 Categories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 NLP System</dc:title>
  <dc:subject>PptxGenJS Presentation</dc:subject>
  <dc:creator>PptxGenJS</dc:creator>
  <cp:lastModifiedBy>PptxGenJS</cp:lastModifiedBy>
  <cp:revision>1</cp:revision>
  <dcterms:created xsi:type="dcterms:W3CDTF">2026-05-16T00:42:12Z</dcterms:created>
  <dcterms:modified xsi:type="dcterms:W3CDTF">2026-05-16T00:42:12Z</dcterms:modified>
</cp:coreProperties>
</file>